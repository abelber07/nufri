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E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 DASP · RA1 + RA2 · CFGS DAW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 d'implantació de digitalització d'extrem a extrem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E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THD: </a:t>
            </a:r>
            <a:pPr indent="0" marL="0">
              <a:buNone/>
            </a:pPr>
            <a:r>
              <a:rPr lang="en-US" sz="1600" dirty="0">
                <a:solidFill>
                  <a:srgbClr val="D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intel·ligència artificial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8E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Empresa: </a:t>
            </a:r>
            <a:pPr indent="0" marL="0">
              <a:buNone/>
            </a:pPr>
            <a:r>
              <a:rPr lang="en-US" sz="1600" dirty="0">
                <a:solidFill>
                  <a:srgbClr val="D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Nufri (Mollerussa, Lleida)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 · Arnau · JoseMa · Abel   |   Curs 2026-2027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28016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 DASP · IA a Nufri ·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L'empresa: Nufri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594360" cy="594360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47447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Primari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3957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 fruita a les seves finques de Lleida i Sòria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46120" y="114300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1325880"/>
            <a:ext cx="594360" cy="594360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310" y="147447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7472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Secundari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3957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la fruita, la guarda en cambres de fred i fa sucs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035040" y="114300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63640" y="1325880"/>
            <a:ext cx="594360" cy="594360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30" y="147447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6364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Terciari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263640" y="23957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distribueix a supermercats d'Espanya i Portugal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de Mollerussa fundada el 1973 per pagesos del Pla d'Urgell. El 2025 va facturar 293 milions d'euros i té uns 194 treballadors. L'hem triat perquè treballa en els tres sectors.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el que proposem és idea nostra: no coneixem els sistemes interns de l'empresa.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 DASP · IA a Nufri ·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· RA1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Què és la digitalització empresarial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 servir eines digitals (programes, sensors, Internet) perquè la informació de l'empresa estigui en sistemes on es pugui consultar i aprofitar.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745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Digititzar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 una cosa de paper a digital.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649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Escanejar un albarà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173736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16301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8745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8E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Digitalitzar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4871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 que aquesta informació serveixi per treballar millor.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3649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9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L'albarà entra sol a comptabilitat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73736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8745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Transformació digital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4871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Canviar què ven l'empresa o com ho ven.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3649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Començar a vendre per Internet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 DASP · IA a Nufri ·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RA1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 OT: comparació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(gestió, oficina)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 (operacions, planta)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442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a què serveix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Gestionar clients, comandes, factures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 funcionar les màquines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ERP*, CRM*, correu, web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PLC*, sensors, cambres de fred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més important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les dades no es perdin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la màquina no s'aturi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de resposta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 segons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l'instant (mil·lisegons)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Durada dels equips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anys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15-25 anys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Departaments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Administració, comercial, RRHH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Producció, manteniment, qualitat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ERP: programa que porta compres, vendes i factures.  CRM: programa per gestionar clients.  PLC: petit ordinador que controla una màquina.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Similituds: </a:t>
            </a:r>
            <a:pPr indent="0" marL="0">
              <a:buNone/>
            </a:pPr>
            <a:r>
              <a:rPr lang="en-US" sz="130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totes dues fan servir ordinadors, xarxes i programes, generen dades i poden patir ciberatacs.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 DASP · IA a Nufri ·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· RA1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què connectar IT i OT d'extrem a extrem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4672" y="1051560"/>
            <a:ext cx="731520" cy="731520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234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8288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14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496312" y="1051560"/>
            <a:ext cx="731520" cy="731520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192" y="12344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48840" y="18288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(OT)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337560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14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4187952" y="1051560"/>
            <a:ext cx="731520" cy="731520"/>
          </a:xfrm>
          <a:prstGeom prst="ellipse">
            <a:avLst/>
          </a:prstGeom>
          <a:solidFill>
            <a:srgbClr val="C8E66A"/>
          </a:solidFill>
          <a:ln w="12700">
            <a:solidFill>
              <a:srgbClr val="C8E66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2344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840480" y="18288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Dades + IA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5029200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14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5879592" y="1051560"/>
            <a:ext cx="731520" cy="731520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123444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532120" y="18288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(IT)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6720840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14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7571232" y="1051560"/>
            <a:ext cx="731520" cy="731520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123444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223760" y="18288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57200" y="233172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40080" y="2423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Bessó digital</a:t>
            </a:r>
            <a:endParaRPr lang="en-US" sz="145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27340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Còpia virtual d'una instal·lació per provar canvis abans de fer-los.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4663440" y="233172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4846320" y="2423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Millora operativa</a:t>
            </a:r>
            <a:endParaRPr lang="en-US" sz="1450" dirty="0"/>
          </a:p>
        </p:txBody>
      </p:sp>
      <p:sp>
        <p:nvSpPr>
          <p:cNvPr id="29" name="Text 22"/>
          <p:cNvSpPr txBox="1"/>
          <p:nvPr/>
        </p:nvSpPr>
        <p:spPr>
          <a:xfrm>
            <a:off x="4846320" y="27340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 primer la fruita que durarà menys i organitzar millor les màquines.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457200" y="333756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640080" y="3429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Traçabilitat</a:t>
            </a:r>
            <a:endParaRPr lang="en-US" sz="1450" dirty="0"/>
          </a:p>
        </p:txBody>
      </p:sp>
      <p:sp>
        <p:nvSpPr>
          <p:cNvPr id="32" name="Text 25"/>
          <p:cNvSpPr txBox="1"/>
          <p:nvPr/>
        </p:nvSpPr>
        <p:spPr>
          <a:xfrm>
            <a:off x="640080" y="373989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de quina finca i de quin lot ve cada caixa.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4663440" y="333756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846320" y="3429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més ràpides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4846320" y="373989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dades estan al dia, no cal esperar informes.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 DASP · IA a Nufri · 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· RA1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Repercussió en cada sector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80160"/>
            <a:ext cx="594360" cy="594360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4287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0116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Primari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3591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Agricultura, ramaderia, pesca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724912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d'humitat a les finques (OT) envien dades a un programa del camp (IT) que diu quan regar i quan collir.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109728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1280160"/>
            <a:ext cx="594360" cy="594360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310" y="142875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74720" y="20116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Secundari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23591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474720" y="2724912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màquines que classifiquen la fruita i fan sucs (OT) envien dades a l'ERP (IT) per planificar torns i manteniment.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035040" y="109728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63640" y="1280160"/>
            <a:ext cx="594360" cy="594360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30" y="1428750"/>
            <a:ext cx="297180" cy="2971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63640" y="20116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Terciari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6263640" y="23591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Comerç, transport, logística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263640" y="2724912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comandes dels supermercats (IT) es comparen amb la fruita que hi ha a les cambres (OT) per preparar els camions.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 DASP · IA a Nufri ·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· RA2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THD i la que hem triat: la IA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THD: tecnologies habilitadores digitals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61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IoT (sensors connectats)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Big data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847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Núvol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139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Edge computing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4323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Ciberseguretat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7249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Robots col·laboratius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Impressió 3D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310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Realitat virtual i augmentada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6027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Blockchain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895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5G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187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Bessó digital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914400"/>
            <a:ext cx="4389120" cy="3611880"/>
          </a:xfrm>
          <a:prstGeom prst="roundRect">
            <a:avLst>
              <a:gd name="adj" fmla="val 2025"/>
            </a:avLst>
          </a:prstGeom>
          <a:solidFill>
            <a:srgbClr val="16301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10789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E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Intel·ligència artificial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153619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Programes que aprenen a partir de molts exemples per fer previsions o reconèixer coses, sense dir-los pas a pas què han de fer.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23774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8E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Aprenentatge automàtic: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preveure vendes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8E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 artificial: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fruita amb cops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8E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Xatbots: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respondre preguntes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3429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Límits: si les dades són dolentes, s'equivoca. Una persona ha de revisar les decisions importants. A la UE la regula el Reglament d'IA (AI Act).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 DASP · IA a Nufri · 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· RA2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 productes i serveis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71600"/>
            <a:ext cx="731520" cy="731520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371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Previsió de comandes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7830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 fruita necessitarà cada supermercat.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92040" y="1371600"/>
            <a:ext cx="731520" cy="731520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544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52160" y="1371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Classificació amb càmeres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852160" y="17830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fruita amb defectes de pell va a sucs.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26974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5800" y="2971800"/>
            <a:ext cx="731520" cy="731520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546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45920" y="2971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 per a clients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645920" y="33832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Comandes, origen de cada lot i xatbot.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663440" y="26974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92040" y="2971800"/>
            <a:ext cx="731520" cy="731520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1546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852160" y="2971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Consells als pagesos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5852160" y="33832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collir segons el temps i altres anys.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 DASP · IA a Nufri ·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· RA2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sostenible i eficiència energètica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Eficiència energètica: fer la mateixa feina gastant menys energia.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66928" cy="566928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1467612"/>
            <a:ext cx="283464" cy="2834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344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Menys fruita llençada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27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guarda només el que es vendrà.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057400"/>
            <a:ext cx="566928" cy="566928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" y="21991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" y="2075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Menys llum a les cambres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188720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ajustada a la fruita i al preu de la llum.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2788920"/>
            <a:ext cx="566928" cy="566928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2930652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2807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Menys aigua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188720" y="3090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rega quan el terra ho necessita.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57200" y="3520440"/>
            <a:ext cx="566928" cy="566928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" y="366217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88720" y="3538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Menys transport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188720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Camions més plens i rutes més curtes.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486400" y="132588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EAF0D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57150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tenir en compte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715000" y="1920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posem percentatges perquè dependrien de les dades reals de l'empresa.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també gasta energia quan aprèn, per això no cal fer servir models gaire grans.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 DASP · IA a Nufri · 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· RA2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 mercats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325880"/>
            <a:ext cx="822960" cy="822960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15316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2331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Serveis per a supermercats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9260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Previsions i traçabilitat com a servei extra.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560320" y="114300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08960" y="1325880"/>
            <a:ext cx="822960" cy="822960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15316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97480" y="2331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2697480" y="29260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Altres països demanen saber d'on ve la fruita.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663440" y="114300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212080" y="1325880"/>
            <a:ext cx="822960" cy="822960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15316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00600" y="2331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Productes nous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4800600" y="29260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Sucs amb la fruita que abans es perdia.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766560" y="114300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15200" y="1325880"/>
            <a:ext cx="822960" cy="822960"/>
          </a:xfrm>
          <a:prstGeom prst="ellipse">
            <a:avLst/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153162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903720" y="2331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Feina nova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6903720" y="29260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Analistes de dades, programadors web, tècnics.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 DASP · IA a Nufri · 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· RA2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Implantació a l'oficina (IT) i a la planta (OT)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EAF0DF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31445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261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 (IT)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82880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Previsió de vendes connectada a l'ERP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Panell web per a la direcció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 per als clients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automàtica d'albarans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05156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BEDE9"/>
          </a:solidFill>
          <a:ln w="9525">
            <a:solidFill>
              <a:srgbClr val="D6DC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11887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131445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0" y="1261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Planta (OT)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182880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Càmeres a les línies de classificació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Manteniment predictiu*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les cambres de fred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al camp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Manteniment predictiu: sensors a les màquines que avisen abans que s'espatllin.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 connecta: </a:t>
            </a:r>
            <a:pPr indent="0" marL="0">
              <a:buNone/>
            </a:pPr>
            <a:r>
              <a:rPr lang="en-US" sz="125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→ ordinador a la planta → plataforma amb la IA → API (connexió entre programes) → aplicacions web.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 DASP · IA a Nufri ·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· RA2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de la implantació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80160" y="1508760"/>
            <a:ext cx="6583680" cy="0"/>
          </a:xfrm>
          <a:prstGeom prst="line">
            <a:avLst/>
          </a:prstGeom>
          <a:noFill/>
          <a:ln w="25400">
            <a:solidFill>
              <a:srgbClr val="D6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188720"/>
            <a:ext cx="640080" cy="640080"/>
          </a:xfrm>
          <a:prstGeom prst="ellipse">
            <a:avLst/>
          </a:prstGeom>
          <a:solidFill>
            <a:srgbClr val="EAF0DF"/>
          </a:solidFill>
          <a:ln w="25400">
            <a:solidFill>
              <a:srgbClr val="F7F6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 inicial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14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mesos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51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Mirar màquines, xarxes i dades. Triar per on començar.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640080" cy="640080"/>
          </a:xfrm>
          <a:prstGeom prst="ellipse">
            <a:avLst/>
          </a:prstGeom>
          <a:solidFill>
            <a:srgbClr val="EAF0DF"/>
          </a:solidFill>
          <a:ln w="25400">
            <a:solidFill>
              <a:srgbClr val="F7F6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Connexió IT/OT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14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mesos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2651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separar xarxes i reunir les dades.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303520" y="1188720"/>
            <a:ext cx="640080" cy="640080"/>
          </a:xfrm>
          <a:prstGeom prst="ellipse">
            <a:avLst/>
          </a:prstGeom>
          <a:solidFill>
            <a:srgbClr val="16301F"/>
          </a:solidFill>
          <a:ln w="25400">
            <a:solidFill>
              <a:srgbClr val="F7F6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E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pilot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14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mesos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2651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una sola línia. Mesurar si funciona.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406640" y="1188720"/>
            <a:ext cx="640080" cy="640080"/>
          </a:xfrm>
          <a:prstGeom prst="ellipse">
            <a:avLst/>
          </a:prstGeom>
          <a:solidFill>
            <a:srgbClr val="EAF0DF"/>
          </a:solidFill>
          <a:ln w="25400">
            <a:solidFill>
              <a:srgbClr val="F7F6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066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Ampliació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14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mesos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2651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 de centres i portal web.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4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Riscos: </a:t>
            </a:r>
            <a:pPr indent="0" marL="0">
              <a:buNone/>
            </a:pPr>
            <a:r>
              <a:rPr lang="en-US" sz="1300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ciberatacs a la planta (cal separar les xarxes), dades dolentes i que costi acostumar-s'hi (formació).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 DASP · IA a Nufri · 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· RA2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Millores en la infraestructura IT/OT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4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 LA PROPOSTA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FBEDE9"/>
          </a:solidFill>
          <a:ln w="12700">
            <a:solidFill>
              <a:srgbClr val="FBED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801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Dades en molts programes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28016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2801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Totes les dades en una plataforma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810512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FBEDE9"/>
          </a:solidFill>
          <a:ln w="12700">
            <a:solidFill>
              <a:srgbClr val="FBED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8105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Màquines sense comunicar-se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181051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54880" y="1810512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181051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Màquines connectades en temps real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340864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FBEDE9"/>
          </a:solidFill>
          <a:ln w="12700">
            <a:solidFill>
              <a:srgbClr val="FBED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3408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xarxa per a tot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234086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54880" y="234086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234086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Xarxes separades amb una zona de seguretat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871216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FBEDE9"/>
          </a:solidFill>
          <a:ln w="12700">
            <a:solidFill>
              <a:srgbClr val="FBED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287121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S'arregla quan s'espatlla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287121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754880" y="2871216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37760" y="287121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Manteniment predictiu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401568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FBEDE9"/>
          </a:solidFill>
          <a:ln w="12700">
            <a:solidFill>
              <a:srgbClr val="FBEDE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340156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Servidors a l'oficina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206240" y="34015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754880" y="3401568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37760" y="340156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Núvol + ordinador a la planta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3931920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FBEDE9"/>
          </a:solidFill>
          <a:ln w="12700">
            <a:solidFill>
              <a:srgbClr val="FBEDE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393192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fets a mà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206240" y="393192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754880" y="3931920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EAF0DF"/>
          </a:solidFill>
          <a:ln w="12700">
            <a:solidFill>
              <a:srgbClr val="EAF0D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37760" y="39319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Panell web que s'actualitza sol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 DASP · IA a Nufri ·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· RA2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Taula resum de THD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17520"/>
                <a:gridCol w="310896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Característiques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Àrees d'aplicació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3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6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F6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Aprèn de dades i fa previsions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F6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Vendes, manteniment, qualitat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D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 connectats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Agricultura, màquines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Moltes dades de molts tipus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Anàlisi de vendes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Núvol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paga pel que es fa servir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Programes de gestió, còpies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computing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Processa les dades a prop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màquines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Ciberseguretat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Protegeix d'atacs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Totes, sobretot la planta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Robots col·laboratius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Treballen amb persones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Envasat, magatzem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Impressió 3D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Peces a mida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Recanvis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Realitat virtual / augm.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Informació digital sobre la realitat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Formació, reparacions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Registre que no es pot canviar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Traçabilitat d'aliments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Molt ràpid i poc retard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Fàbriques connectades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E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Bessó digital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 amb dades reals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Plantes, magatzems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 DASP · IA a Nufri · 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 de la proposta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21402B"/>
          </a:solidFill>
          <a:ln w="12700">
            <a:solidFill>
              <a:srgbClr val="2E5A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E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Connectar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planta i l'oficina perquè comparteixin les dades.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21402B"/>
          </a:solidFill>
          <a:ln w="12700">
            <a:solidFill>
              <a:srgbClr val="2E5A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E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 servir la IA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057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preveure comandes, avaries i consum.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0" y="146304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21402B"/>
          </a:solidFill>
          <a:ln w="12700">
            <a:solidFill>
              <a:srgbClr val="2E5A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E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Començar petit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057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 una prova de 6 mesos en una línia.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66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Gràcies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Mauri, Arnau, JoseMa i Abel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a Nufri</dc:title>
  <dc:subject>PptxGenJS Presentation</dc:subject>
  <dc:creator>Mauri, Arnau, JoseMa i Abel</dc:creator>
  <cp:lastModifiedBy>Mauri, Arnau, JoseMa i Abel</cp:lastModifiedBy>
  <cp:revision>1</cp:revision>
  <dcterms:created xsi:type="dcterms:W3CDTF">2026-10-07T07:05:07Z</dcterms:created>
  <dcterms:modified xsi:type="dcterms:W3CDTF">2026-10-07T07:05:07Z</dcterms:modified>
</cp:coreProperties>
</file>